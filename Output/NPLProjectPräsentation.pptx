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7" r:id="rId3"/>
    <p:sldId id="259" r:id="rId4"/>
    <p:sldId id="269" r:id="rId5"/>
    <p:sldId id="270" r:id="rId6"/>
    <p:sldId id="271" r:id="rId7"/>
    <p:sldId id="272" r:id="rId8"/>
    <p:sldId id="258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73" r:id="rId1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45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3344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085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230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1343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1149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02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551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2793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461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73841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12/2/2025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18893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45" r:id="rId6"/>
    <p:sldLayoutId id="2147483741" r:id="rId7"/>
    <p:sldLayoutId id="2147483742" r:id="rId8"/>
    <p:sldLayoutId id="2147483743" r:id="rId9"/>
    <p:sldLayoutId id="2147483744" r:id="rId10"/>
    <p:sldLayoutId id="214748374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lakshmi25npathi/imdb-dataset-of-50k-movie-review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lakshmi25npathi/imdb-dataset-of-50k-movie-reviews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8">
            <a:extLst>
              <a:ext uri="{FF2B5EF4-FFF2-40B4-BE49-F238E27FC236}">
                <a16:creationId xmlns:a16="http://schemas.microsoft.com/office/drawing/2014/main" id="{94C0C11B-582D-4BD6-AFEF-ED15AAF160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0">
            <a:extLst>
              <a:ext uri="{FF2B5EF4-FFF2-40B4-BE49-F238E27FC236}">
                <a16:creationId xmlns:a16="http://schemas.microsoft.com/office/drawing/2014/main" id="{72EF3F9A-9717-4ACB-A30D-96694842C4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9143999" cy="2283223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A95221-F018-94DB-103B-3151E467D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3" y="397275"/>
            <a:ext cx="8476567" cy="1638259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de-AT"/>
              <a:t>Sentiment Analyse IMDB Dataset LSTM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AE1D4E65-5609-1AAE-9179-0CF01435BF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386684" y="397275"/>
            <a:ext cx="2436905" cy="1638260"/>
          </a:xfrm>
        </p:spPr>
        <p:txBody>
          <a:bodyPr anchor="ctr">
            <a:normAutofit/>
          </a:bodyPr>
          <a:lstStyle/>
          <a:p>
            <a:r>
              <a:rPr lang="de-AT" sz="1800"/>
              <a:t>Von Martin Holzinger, Wiktoria Niziolek, Daniel Gebhart, Stefan Werner</a:t>
            </a:r>
          </a:p>
        </p:txBody>
      </p:sp>
      <p:pic>
        <p:nvPicPr>
          <p:cNvPr id="17" name="Picture 3">
            <a:extLst>
              <a:ext uri="{FF2B5EF4-FFF2-40B4-BE49-F238E27FC236}">
                <a16:creationId xmlns:a16="http://schemas.microsoft.com/office/drawing/2014/main" id="{8298B907-1E1A-0918-DB86-A9BDA315D7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203" b="20090"/>
          <a:stretch>
            <a:fillRect/>
          </a:stretch>
        </p:blipFill>
        <p:spPr>
          <a:xfrm>
            <a:off x="20" y="2283223"/>
            <a:ext cx="9143978" cy="4574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5002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14ADA7-9D54-6D1E-F775-068F394962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Projektüberblick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843E00-6EA3-120F-0C93-3BC457537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de-AT" b="1" dirty="0"/>
              <a:t>Ziel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Sentiment Analyse von IMDB-</a:t>
            </a:r>
            <a:r>
              <a:rPr lang="de-AT" dirty="0" err="1"/>
              <a:t>Filmrevies</a:t>
            </a:r>
            <a:endParaRPr lang="de-AT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de-AT" dirty="0"/>
              <a:t>Dataset: </a:t>
            </a:r>
            <a:r>
              <a:rPr lang="de-AT" dirty="0">
                <a:hlinkClick r:id="rId2"/>
              </a:rPr>
              <a:t>https://www.kaggle.com/datasets/lakshmi25npathi/imdb-dataset-of-50k-movie-reviews</a:t>
            </a:r>
            <a:endParaRPr lang="de-AT" dirty="0"/>
          </a:p>
          <a:p>
            <a:pPr marL="800100" lvl="2" indent="-342900">
              <a:buFont typeface="Arial" panose="020B0604020202020204" pitchFamily="34" charset="0"/>
              <a:buChar char="•"/>
            </a:pPr>
            <a:r>
              <a:rPr lang="de-AT" dirty="0"/>
              <a:t>50.000 IMDB Reviews</a:t>
            </a:r>
          </a:p>
          <a:p>
            <a:r>
              <a:rPr lang="de-AT" b="1" dirty="0"/>
              <a:t>Modele: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Naive Bayes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BiLSTM</a:t>
            </a:r>
            <a:r>
              <a:rPr lang="de-AT" dirty="0"/>
              <a:t> mit </a:t>
            </a:r>
            <a:r>
              <a:rPr lang="de-AT" dirty="0" err="1"/>
              <a:t>GloVe</a:t>
            </a:r>
            <a:r>
              <a:rPr lang="de-AT" dirty="0"/>
              <a:t> für bessere </a:t>
            </a:r>
            <a:r>
              <a:rPr lang="de-AT" dirty="0" err="1"/>
              <a:t>analyse</a:t>
            </a:r>
            <a:endParaRPr lang="de-AT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de-AT" dirty="0" err="1"/>
              <a:t>Glove</a:t>
            </a:r>
            <a:r>
              <a:rPr lang="de-AT" dirty="0"/>
              <a:t> Version: glove.6B.100d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LSTM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AT" dirty="0"/>
          </a:p>
          <a:p>
            <a:pPr lvl="1"/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3597194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8DCAB6E-3088-5204-90B9-9DFB6B21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Imports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DB5F36C-78B8-6F08-A209-FD33A38A7A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de-AT" b="1" dirty="0"/>
              <a:t>Benutze Packages: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Tensorflow</a:t>
            </a:r>
            <a:r>
              <a:rPr lang="de-AT" dirty="0"/>
              <a:t>: für </a:t>
            </a:r>
            <a:r>
              <a:rPr lang="de-AT" dirty="0" err="1"/>
              <a:t>Tokenizer</a:t>
            </a:r>
            <a:r>
              <a:rPr lang="de-AT" dirty="0"/>
              <a:t>, Embedding-</a:t>
            </a:r>
            <a:r>
              <a:rPr lang="de-AT" dirty="0" err="1"/>
              <a:t>layers</a:t>
            </a:r>
            <a:r>
              <a:rPr lang="de-AT" dirty="0"/>
              <a:t>, </a:t>
            </a:r>
            <a:r>
              <a:rPr lang="de-AT" dirty="0" err="1"/>
              <a:t>pad_sequences</a:t>
            </a:r>
            <a:r>
              <a:rPr lang="de-AT" dirty="0"/>
              <a:t> für gleich lange </a:t>
            </a:r>
            <a:r>
              <a:rPr lang="de-AT" dirty="0" err="1"/>
              <a:t>sequencen</a:t>
            </a:r>
            <a:endParaRPr lang="de-AT" dirty="0"/>
          </a:p>
          <a:p>
            <a:pPr marL="571500" lvl="1" indent="-342900">
              <a:buFont typeface="Arial" panose="020B0604020202020204" pitchFamily="34" charset="0"/>
              <a:buChar char="•"/>
            </a:pPr>
            <a:r>
              <a:rPr lang="de-AT" dirty="0"/>
              <a:t>Definiert </a:t>
            </a:r>
            <a:r>
              <a:rPr lang="de-AT" dirty="0" err="1"/>
              <a:t>model</a:t>
            </a:r>
            <a:r>
              <a:rPr lang="de-AT" dirty="0"/>
              <a:t>, trainiert, optimiert etc…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Numpy</a:t>
            </a:r>
            <a:r>
              <a:rPr lang="de-AT" dirty="0"/>
              <a:t>: für Train und Test Arrays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Joblib</a:t>
            </a:r>
            <a:r>
              <a:rPr lang="de-AT" dirty="0"/>
              <a:t>: für speichern des </a:t>
            </a:r>
            <a:r>
              <a:rPr lang="de-AT" dirty="0" err="1"/>
              <a:t>Tokenizers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Matplotlib</a:t>
            </a:r>
            <a:r>
              <a:rPr lang="de-AT" dirty="0"/>
              <a:t>: für Plots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Sklearn:machine</a:t>
            </a:r>
            <a:r>
              <a:rPr lang="de-AT" dirty="0"/>
              <a:t> </a:t>
            </a:r>
            <a:r>
              <a:rPr lang="de-AT" dirty="0" err="1"/>
              <a:t>learning</a:t>
            </a:r>
            <a:r>
              <a:rPr lang="de-AT" dirty="0"/>
              <a:t> </a:t>
            </a:r>
            <a:r>
              <a:rPr lang="de-AT" dirty="0" err="1"/>
              <a:t>basics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Nltk</a:t>
            </a:r>
            <a:r>
              <a:rPr lang="de-AT" dirty="0"/>
              <a:t>: </a:t>
            </a:r>
            <a:r>
              <a:rPr lang="de-AT" dirty="0" err="1"/>
              <a:t>bibliothek</a:t>
            </a:r>
            <a:r>
              <a:rPr lang="de-AT" dirty="0"/>
              <a:t> für </a:t>
            </a:r>
            <a:r>
              <a:rPr lang="de-AT" dirty="0" err="1"/>
              <a:t>stopwörter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Re: </a:t>
            </a:r>
            <a:r>
              <a:rPr lang="de-AT" dirty="0" err="1"/>
              <a:t>regular</a:t>
            </a:r>
            <a:r>
              <a:rPr lang="de-AT" dirty="0"/>
              <a:t> </a:t>
            </a:r>
            <a:r>
              <a:rPr lang="de-AT" dirty="0" err="1"/>
              <a:t>expressions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9444075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E668D9-76E6-722B-B64A-C7C4A6951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Datenset </a:t>
            </a:r>
            <a:r>
              <a:rPr lang="de-AT" dirty="0" err="1"/>
              <a:t>PreProcesing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EB65131-040E-8B75-5F40-D686431ADD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Datenset wird geladen</a:t>
            </a:r>
          </a:p>
          <a:p>
            <a:r>
              <a:rPr lang="de-AT" dirty="0"/>
              <a:t>Prüfung von Spaltennamen</a:t>
            </a:r>
          </a:p>
          <a:p>
            <a:r>
              <a:rPr lang="de-AT" dirty="0" err="1"/>
              <a:t>Textbereiningung</a:t>
            </a:r>
            <a:endParaRPr lang="de-AT" dirty="0"/>
          </a:p>
          <a:p>
            <a:r>
              <a:rPr lang="de-AT" dirty="0"/>
              <a:t>Download </a:t>
            </a:r>
            <a:r>
              <a:rPr lang="de-AT" dirty="0" err="1"/>
              <a:t>Stopwords</a:t>
            </a:r>
            <a:endParaRPr lang="de-AT" dirty="0"/>
          </a:p>
          <a:p>
            <a:r>
              <a:rPr lang="de-AT" dirty="0"/>
              <a:t>Labels erstellen und Train Test Split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20% Test Size</a:t>
            </a:r>
          </a:p>
        </p:txBody>
      </p:sp>
    </p:spTree>
    <p:extLst>
      <p:ext uri="{BB962C8B-B14F-4D97-AF65-F5344CB8AC3E}">
        <p14:creationId xmlns:p14="http://schemas.microsoft.com/office/powerpoint/2010/main" val="2789162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55919B-EFC4-36F3-175B-D720B2AB5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Naive Bayes 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8893A9-41D0-84E2-763D-E96E2779A6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50.000 Wörter berücksichtigen</a:t>
            </a:r>
          </a:p>
          <a:p>
            <a:r>
              <a:rPr lang="de-AT" dirty="0"/>
              <a:t>Auch 2 Wort-kombination berücksichtigen</a:t>
            </a:r>
          </a:p>
          <a:p>
            <a:r>
              <a:rPr lang="de-AT" dirty="0" err="1"/>
              <a:t>Mindest</a:t>
            </a:r>
            <a:r>
              <a:rPr lang="de-AT" dirty="0"/>
              <a:t> Anzahl an Wort Vorkommnis = 2</a:t>
            </a:r>
          </a:p>
          <a:p>
            <a:r>
              <a:rPr lang="de-AT" dirty="0"/>
              <a:t>Wörter die 95% vorkommen ignorieren z.B.: </a:t>
            </a:r>
            <a:r>
              <a:rPr lang="de-AT" dirty="0" err="1"/>
              <a:t>the</a:t>
            </a:r>
            <a:endParaRPr lang="de-AT" dirty="0"/>
          </a:p>
          <a:p>
            <a:r>
              <a:rPr lang="de-AT" dirty="0"/>
              <a:t>Leichte Glättung 0,5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A5CDD00-F6D8-B889-5796-B3FC5FDE6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8386" y="3500143"/>
            <a:ext cx="5469641" cy="2291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30777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B26400D-4939-EC1C-ADE3-2D14C6B651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Training Naive Bayes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E31E64A-CFCC-2895-065A-34F1DAD33D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Model trainieren</a:t>
            </a:r>
          </a:p>
          <a:p>
            <a:r>
              <a:rPr lang="de-AT" dirty="0"/>
              <a:t>Ergebnisse evaluieren</a:t>
            </a:r>
          </a:p>
          <a:p>
            <a:r>
              <a:rPr lang="de-AT" dirty="0"/>
              <a:t>Plotten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5959FF91-285C-93B0-A25A-C13419621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4173" y="3581401"/>
            <a:ext cx="7258599" cy="2181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05778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6633650-FB1E-073E-C057-C984442E6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Ergebnisse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077181B-AF0E-AE30-3CD4-AFE42F864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 err="1"/>
              <a:t>Accuracy</a:t>
            </a:r>
            <a:r>
              <a:rPr lang="de-AT" dirty="0"/>
              <a:t>: 82.98%</a:t>
            </a:r>
          </a:p>
          <a:p>
            <a:r>
              <a:rPr lang="de-AT" dirty="0"/>
              <a:t>Precision: 82.13%</a:t>
            </a:r>
          </a:p>
          <a:p>
            <a:r>
              <a:rPr lang="de-AT" dirty="0"/>
              <a:t>Recall: 84.30%</a:t>
            </a:r>
          </a:p>
          <a:p>
            <a:r>
              <a:rPr lang="de-AT" dirty="0"/>
              <a:t>F1-Score: 83.20%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E48F3C69-FC90-1DC4-A244-37414407AA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4175" y="2715963"/>
            <a:ext cx="4255393" cy="3699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167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7367123-83B4-F2C1-C8D9-874F9DDC5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Vorbereitungen </a:t>
            </a:r>
            <a:r>
              <a:rPr lang="de-AT" dirty="0" err="1"/>
              <a:t>BiLSTM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42233C1-D840-C723-692C-D561CE745C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AT" b="1" dirty="0"/>
              <a:t>Datenset Vorbereiten: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Vokabulargröße</a:t>
            </a:r>
            <a:r>
              <a:rPr lang="de-AT" dirty="0"/>
              <a:t> wird auf 50.000 gesetzt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Maximale sequenzlänge wird gesetzt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Dimensionen des </a:t>
            </a:r>
            <a:r>
              <a:rPr lang="de-AT" dirty="0" err="1"/>
              <a:t>Wortvektos</a:t>
            </a:r>
            <a:r>
              <a:rPr lang="de-AT" dirty="0"/>
              <a:t> werden gesetzt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Es wird sichergestellt das Train und Test </a:t>
            </a:r>
            <a:r>
              <a:rPr lang="de-AT" dirty="0" err="1"/>
              <a:t>str</a:t>
            </a:r>
            <a:r>
              <a:rPr lang="de-AT" dirty="0"/>
              <a:t> sind</a:t>
            </a:r>
          </a:p>
          <a:p>
            <a:r>
              <a:rPr lang="de-AT" b="1" dirty="0" err="1"/>
              <a:t>Tokenizer</a:t>
            </a:r>
            <a:r>
              <a:rPr lang="de-AT" b="1" dirty="0"/>
              <a:t> Vorbereiten: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Tokenizer</a:t>
            </a:r>
            <a:r>
              <a:rPr lang="de-AT" dirty="0"/>
              <a:t> wird erstellt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Vokabular wird aus den Trainingsdaten gelernt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Wörter werden durch Indexe ersetzt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4E1FDD99-0CD7-C032-295A-F680330452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43424" y="2585243"/>
            <a:ext cx="4963999" cy="1687513"/>
          </a:xfrm>
          <a:prstGeom prst="rect">
            <a:avLst/>
          </a:prstGeom>
        </p:spPr>
      </p:pic>
      <p:pic>
        <p:nvPicPr>
          <p:cNvPr id="7" name="Grafik 6">
            <a:extLst>
              <a:ext uri="{FF2B5EF4-FFF2-40B4-BE49-F238E27FC236}">
                <a16:creationId xmlns:a16="http://schemas.microsoft.com/office/drawing/2014/main" id="{2EF9CD05-FD12-297A-DA46-3EAFE7DF5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3424" y="4681360"/>
            <a:ext cx="4947054" cy="1395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4455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9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1">
            <a:extLst>
              <a:ext uri="{FF2B5EF4-FFF2-40B4-BE49-F238E27FC236}">
                <a16:creationId xmlns:a16="http://schemas.microsoft.com/office/drawing/2014/main" id="{66A2B6FF-98AF-4A0F-AAA9-F291A7D2D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83644" cy="3429000"/>
            <a:chOff x="6096002" y="-9073"/>
            <a:chExt cx="6095998" cy="686707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3A2D870-BA00-4DBB-BF6E-782BAFEDC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CFD376E6-424C-4887-B673-6B4126758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3351E06-591F-3D02-272F-7BD559F7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de-AT"/>
              <a:t>GloVe-Embedding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0A9CAF-6DDC-FA45-208A-C7056A7482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870613"/>
            <a:ext cx="5022630" cy="2306349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de-AT" sz="1700" err="1"/>
              <a:t>Glove</a:t>
            </a:r>
            <a:r>
              <a:rPr lang="de-AT" sz="1700"/>
              <a:t> </a:t>
            </a:r>
            <a:r>
              <a:rPr lang="de-AT" sz="1700" err="1"/>
              <a:t>datei</a:t>
            </a:r>
            <a:r>
              <a:rPr lang="de-AT" sz="1700"/>
              <a:t> wird durchgegangen</a:t>
            </a:r>
          </a:p>
          <a:p>
            <a:pPr>
              <a:lnSpc>
                <a:spcPct val="110000"/>
              </a:lnSpc>
            </a:pPr>
            <a:r>
              <a:rPr lang="de-AT" sz="1700"/>
              <a:t>Zeilen in Word und Vektor-Komponente geteilt</a:t>
            </a:r>
          </a:p>
          <a:p>
            <a:pPr>
              <a:lnSpc>
                <a:spcPct val="110000"/>
              </a:lnSpc>
            </a:pPr>
            <a:r>
              <a:rPr lang="de-AT" sz="1700"/>
              <a:t>Wort dem Index zugeteilt</a:t>
            </a:r>
          </a:p>
          <a:p>
            <a:pPr>
              <a:lnSpc>
                <a:spcPct val="110000"/>
              </a:lnSpc>
            </a:pPr>
            <a:r>
              <a:rPr lang="de-AT" sz="1700"/>
              <a:t>2D </a:t>
            </a:r>
            <a:r>
              <a:rPr lang="de-AT" sz="1700" err="1"/>
              <a:t>embedding_matrix</a:t>
            </a:r>
            <a:r>
              <a:rPr lang="de-AT" sz="1700"/>
              <a:t> wird erstellt</a:t>
            </a:r>
          </a:p>
          <a:p>
            <a:pPr>
              <a:lnSpc>
                <a:spcPct val="110000"/>
              </a:lnSpc>
            </a:pPr>
            <a:r>
              <a:rPr lang="de-AT" sz="1700" err="1"/>
              <a:t>Tokenizer</a:t>
            </a:r>
            <a:r>
              <a:rPr lang="de-AT" sz="1700"/>
              <a:t>-Vokabular wird durchgegangen und </a:t>
            </a:r>
            <a:r>
              <a:rPr lang="de-AT" sz="1700" err="1"/>
              <a:t>GloVe</a:t>
            </a:r>
            <a:r>
              <a:rPr lang="de-AT" sz="1700"/>
              <a:t> Vektor zugeteilt</a:t>
            </a: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007EA5EA-B432-D6A7-6D26-521F17FD91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0760" y="695325"/>
            <a:ext cx="5720740" cy="523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7383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8DDAA74B-8E81-4F15-BC0F-4050965FF5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6A2B6FF-98AF-4A0F-AAA9-F291A7D2D5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429000"/>
            <a:ext cx="6083644" cy="3429000"/>
            <a:chOff x="6096002" y="-9073"/>
            <a:chExt cx="6095998" cy="6867073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A2D870-BA00-4DBB-BF6E-782BAFEDC8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9073"/>
              <a:ext cx="6095998" cy="686707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CFD376E6-424C-4887-B673-6B4126758B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2" y="-6987"/>
              <a:ext cx="6095998" cy="6864987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8" name="Rectangle 17">
            <a:extLst>
              <a:ext uri="{FF2B5EF4-FFF2-40B4-BE49-F238E27FC236}">
                <a16:creationId xmlns:a16="http://schemas.microsoft.com/office/drawing/2014/main" id="{374CD4C6-F07B-411C-876A-727559731F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6083644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300B65B4-6907-29C7-C206-14E7DBF6B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5022630" cy="2430030"/>
          </a:xfrm>
        </p:spPr>
        <p:txBody>
          <a:bodyPr>
            <a:normAutofit/>
          </a:bodyPr>
          <a:lstStyle/>
          <a:p>
            <a:r>
              <a:rPr lang="de-AT"/>
              <a:t>BiLSTM</a:t>
            </a:r>
            <a:r>
              <a:rPr lang="de-AT" dirty="0"/>
              <a:t>-Model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92BEEBD-FD8B-A7F9-16AF-A8896DFA1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3667125"/>
            <a:ext cx="5623806" cy="2509837"/>
          </a:xfrm>
        </p:spPr>
        <p:txBody>
          <a:bodyPr>
            <a:normAutofit fontScale="70000" lnSpcReduction="20000"/>
          </a:bodyPr>
          <a:lstStyle/>
          <a:p>
            <a:r>
              <a:rPr lang="de-AT" dirty="0"/>
              <a:t>Eingabe Schicht wird erstellt </a:t>
            </a:r>
          </a:p>
          <a:p>
            <a:r>
              <a:rPr lang="de-AT" dirty="0"/>
              <a:t>Erste </a:t>
            </a:r>
            <a:r>
              <a:rPr lang="de-AT" dirty="0" err="1"/>
              <a:t>BiLSTM</a:t>
            </a:r>
            <a:r>
              <a:rPr lang="de-AT" dirty="0"/>
              <a:t> </a:t>
            </a:r>
            <a:r>
              <a:rPr lang="de-AT" dirty="0" err="1"/>
              <a:t>schicht</a:t>
            </a:r>
            <a:r>
              <a:rPr lang="de-AT" dirty="0"/>
              <a:t> wird erstellt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128 Neuronen, Hidden State wird </a:t>
            </a:r>
            <a:r>
              <a:rPr lang="de-AT" dirty="0" err="1"/>
              <a:t>returned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Dropout nach erster Schicht um </a:t>
            </a:r>
            <a:r>
              <a:rPr lang="de-AT" dirty="0" err="1"/>
              <a:t>overfitting</a:t>
            </a:r>
            <a:r>
              <a:rPr lang="de-AT" dirty="0"/>
              <a:t> zu reduzieren</a:t>
            </a:r>
          </a:p>
          <a:p>
            <a:r>
              <a:rPr lang="de-AT" dirty="0"/>
              <a:t>Zweite Schicht mit 64 Neuronen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Leaky</a:t>
            </a:r>
            <a:r>
              <a:rPr lang="de-AT" dirty="0"/>
              <a:t> </a:t>
            </a:r>
            <a:r>
              <a:rPr lang="de-AT" dirty="0" err="1"/>
              <a:t>ReLU</a:t>
            </a:r>
            <a:r>
              <a:rPr lang="de-AT" dirty="0"/>
              <a:t> um negative Werte zu entfernen</a:t>
            </a:r>
          </a:p>
          <a:p>
            <a:r>
              <a:rPr lang="de-AT" dirty="0"/>
              <a:t>Model wird kompiliert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B2EEDFFA-FA52-5CA4-2216-7DABEDF01E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375" y="555866"/>
            <a:ext cx="5576982" cy="5806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555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B48446-4F0D-397B-3007-196849AB6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Training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72552F2-BD32-F08A-D3F8-B44568F34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4552" y="2576513"/>
            <a:ext cx="7411673" cy="3600450"/>
          </a:xfrm>
        </p:spPr>
        <p:txBody>
          <a:bodyPr/>
          <a:lstStyle/>
          <a:p>
            <a:r>
              <a:rPr lang="de-AT" dirty="0"/>
              <a:t>Model wird mit Batch </a:t>
            </a:r>
            <a:r>
              <a:rPr lang="de-AT" dirty="0" err="1"/>
              <a:t>size</a:t>
            </a:r>
            <a:r>
              <a:rPr lang="de-AT" dirty="0"/>
              <a:t> 64 und </a:t>
            </a:r>
            <a:r>
              <a:rPr lang="de-AT" dirty="0" err="1"/>
              <a:t>max</a:t>
            </a:r>
            <a:r>
              <a:rPr lang="de-AT" dirty="0"/>
              <a:t> 10 Epochen trainiert</a:t>
            </a:r>
          </a:p>
          <a:p>
            <a:r>
              <a:rPr lang="de-AT" dirty="0" err="1"/>
              <a:t>EarlyStop</a:t>
            </a:r>
            <a:r>
              <a:rPr lang="de-AT" dirty="0"/>
              <a:t> um nicht 10 Epochen durchzurennen wenn es sich nach 2 nicht ändert</a:t>
            </a:r>
          </a:p>
          <a:p>
            <a:r>
              <a:rPr lang="de-AT" dirty="0"/>
              <a:t>Best </a:t>
            </a:r>
            <a:r>
              <a:rPr lang="de-AT" dirty="0" err="1"/>
              <a:t>weights</a:t>
            </a:r>
            <a:r>
              <a:rPr lang="de-AT" dirty="0"/>
              <a:t> werden nach dem Training wiederhergestellt</a:t>
            </a:r>
          </a:p>
          <a:p>
            <a:r>
              <a:rPr lang="de-AT" dirty="0"/>
              <a:t>20% Trainingsdaten Split</a:t>
            </a:r>
          </a:p>
          <a:p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121E33D2-F064-9A22-A82D-72BE358EC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43622" y="2738209"/>
            <a:ext cx="3439005" cy="3277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023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8C303AF-6BB2-04DF-3522-6E40F9EB4C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Ergebnisse Epoche 1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621E54E-0C6E-932D-FE08-781ACAF7B7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b="1" dirty="0"/>
              <a:t>Trainingsmetrik: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Accuracy</a:t>
            </a:r>
            <a:r>
              <a:rPr lang="de-AT" dirty="0"/>
              <a:t> (</a:t>
            </a:r>
            <a:r>
              <a:rPr lang="de-AT" dirty="0" err="1"/>
              <a:t>genauigkeit</a:t>
            </a:r>
            <a:r>
              <a:rPr lang="de-AT" dirty="0"/>
              <a:t> auf dem Trainingsdaten): 0.7275 </a:t>
            </a:r>
            <a:r>
              <a:rPr lang="de-AT" dirty="0">
                <a:sym typeface="Wingdings" panose="05000000000000000000" pitchFamily="2" charset="2"/>
              </a:rPr>
              <a:t> 72.75%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Loss (Trainingsfehler, weniger = besser): 0.5400</a:t>
            </a:r>
          </a:p>
          <a:p>
            <a:r>
              <a:rPr lang="de-AT" b="1" dirty="0"/>
              <a:t>Validierungsmetrik: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Val_accuracy</a:t>
            </a:r>
            <a:r>
              <a:rPr lang="de-AT" dirty="0"/>
              <a:t>: 0.7797 </a:t>
            </a:r>
            <a:r>
              <a:rPr lang="de-AT" dirty="0">
                <a:sym typeface="Wingdings" panose="05000000000000000000" pitchFamily="2" charset="2"/>
              </a:rPr>
              <a:t> 77,97%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Val_loss</a:t>
            </a:r>
            <a:r>
              <a:rPr lang="de-AT" dirty="0"/>
              <a:t>: 0.4637</a:t>
            </a:r>
          </a:p>
        </p:txBody>
      </p:sp>
    </p:spTree>
    <p:extLst>
      <p:ext uri="{BB962C8B-B14F-4D97-AF65-F5344CB8AC3E}">
        <p14:creationId xmlns:p14="http://schemas.microsoft.com/office/powerpoint/2010/main" val="16446544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5474EE-B6D5-4784-62CE-1D3E0F8CFD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Ergebniss</a:t>
            </a:r>
            <a:r>
              <a:rPr lang="de-AT" dirty="0"/>
              <a:t> Average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DB13F8-52B6-E77B-C23C-9E025DDAAD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AT" dirty="0"/>
              <a:t>True Positives (TP) = 4146</a:t>
            </a:r>
          </a:p>
          <a:p>
            <a:r>
              <a:rPr lang="de-AT" dirty="0"/>
              <a:t>True Negatives (TN) = 4023</a:t>
            </a:r>
          </a:p>
          <a:p>
            <a:r>
              <a:rPr lang="de-AT" dirty="0" err="1"/>
              <a:t>False</a:t>
            </a:r>
            <a:r>
              <a:rPr lang="de-AT" dirty="0"/>
              <a:t> Positives (FP) = 977</a:t>
            </a:r>
          </a:p>
          <a:p>
            <a:r>
              <a:rPr lang="de-AT" dirty="0" err="1"/>
              <a:t>False</a:t>
            </a:r>
            <a:r>
              <a:rPr lang="de-AT" dirty="0"/>
              <a:t> Negatives (FN) = 854 </a:t>
            </a:r>
          </a:p>
          <a:p>
            <a:r>
              <a:rPr lang="de-AT" b="1" dirty="0"/>
              <a:t>Ergebnisse Mean: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Accuracy</a:t>
            </a:r>
            <a:r>
              <a:rPr lang="de-AT" dirty="0"/>
              <a:t> (Genauigkeit): 81,7%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Precision (Genauigkeit der positiven Vorhersagen): 81%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Recall (Empfindlichkeit): 83%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F1-Score: 82%</a:t>
            </a:r>
          </a:p>
        </p:txBody>
      </p:sp>
      <p:pic>
        <p:nvPicPr>
          <p:cNvPr id="5" name="Grafik 4" descr="Ein Bild, das Text, Screenshot, Schrift, Diagramm enthält.&#10;&#10;KI-generierte Inhalte können fehlerhaft sein.">
            <a:extLst>
              <a:ext uri="{FF2B5EF4-FFF2-40B4-BE49-F238E27FC236}">
                <a16:creationId xmlns:a16="http://schemas.microsoft.com/office/drawing/2014/main" id="{486C4296-1511-EB96-342B-4B7B8632F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0158" y="2576513"/>
            <a:ext cx="4723642" cy="4107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50225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9A9A8C-08F6-4ABB-9FF9-151496F7F5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LSTM ohne </a:t>
            </a:r>
            <a:r>
              <a:rPr lang="de-AT" dirty="0" err="1"/>
              <a:t>GloVe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F9B497B-4F3D-6E19-49AA-C9D284EA44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Zufällig initialisiertes </a:t>
            </a:r>
            <a:r>
              <a:rPr lang="de-AT" dirty="0" err="1"/>
              <a:t>embedding</a:t>
            </a:r>
            <a:endParaRPr lang="de-AT" dirty="0"/>
          </a:p>
          <a:p>
            <a:r>
              <a:rPr lang="de-AT" dirty="0"/>
              <a:t>64 </a:t>
            </a:r>
            <a:r>
              <a:rPr lang="de-AT" dirty="0" err="1"/>
              <a:t>neuronen</a:t>
            </a:r>
            <a:r>
              <a:rPr lang="de-AT" dirty="0"/>
              <a:t> erste Layer, 20% </a:t>
            </a:r>
            <a:r>
              <a:rPr lang="de-AT" dirty="0" err="1"/>
              <a:t>dropout</a:t>
            </a:r>
            <a:endParaRPr lang="de-AT" dirty="0"/>
          </a:p>
          <a:p>
            <a:r>
              <a:rPr lang="de-AT" dirty="0"/>
              <a:t>Zweite </a:t>
            </a:r>
            <a:r>
              <a:rPr lang="de-AT" dirty="0" err="1"/>
              <a:t>schicht</a:t>
            </a:r>
            <a:r>
              <a:rPr lang="de-AT" dirty="0"/>
              <a:t> mit 32 Neuronen</a:t>
            </a:r>
          </a:p>
          <a:p>
            <a:r>
              <a:rPr lang="de-AT" dirty="0"/>
              <a:t>Model kompiliert und trainiert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CC1CD503-5A71-E408-A114-FA868B3C8A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090" y="3033509"/>
            <a:ext cx="6449325" cy="2915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11792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228FF9-1BFF-F4D2-8E40-125B0C4C7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Ergebniss</a:t>
            </a:r>
            <a:r>
              <a:rPr lang="de-AT" dirty="0"/>
              <a:t> LSTM ohne </a:t>
            </a:r>
            <a:r>
              <a:rPr lang="de-AT" dirty="0" err="1"/>
              <a:t>GloVe</a:t>
            </a:r>
            <a:endParaRPr lang="de-AT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9811EEC-F972-D7E3-27D9-B659D985C4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AT" dirty="0"/>
              <a:t>True Positives (TP) = 4146</a:t>
            </a:r>
          </a:p>
          <a:p>
            <a:r>
              <a:rPr lang="de-AT" dirty="0"/>
              <a:t>True Negatives (TN) = 4101</a:t>
            </a:r>
          </a:p>
          <a:p>
            <a:r>
              <a:rPr lang="de-AT" dirty="0" err="1"/>
              <a:t>False</a:t>
            </a:r>
            <a:r>
              <a:rPr lang="de-AT" dirty="0"/>
              <a:t> Positives (FP) = 899</a:t>
            </a:r>
          </a:p>
          <a:p>
            <a:r>
              <a:rPr lang="de-AT" dirty="0" err="1"/>
              <a:t>False</a:t>
            </a:r>
            <a:r>
              <a:rPr lang="de-AT" dirty="0"/>
              <a:t> Negatives (FN) = 854 </a:t>
            </a:r>
          </a:p>
          <a:p>
            <a:r>
              <a:rPr lang="de-AT" b="1" dirty="0"/>
              <a:t>Ergebnisse Mean: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Accuracy</a:t>
            </a:r>
            <a:r>
              <a:rPr lang="de-AT" dirty="0"/>
              <a:t> (Genauigkeit): 82,5%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DE" dirty="0"/>
              <a:t>Precision (Genauigkeit der positiven Vorhersagen): 82,2%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Recall (Empfindlichkeit): 82,9%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F1-Score: 82,5%</a:t>
            </a:r>
          </a:p>
          <a:p>
            <a:endParaRPr lang="de-AT" dirty="0"/>
          </a:p>
          <a:p>
            <a:endParaRPr lang="de-AT" dirty="0"/>
          </a:p>
        </p:txBody>
      </p:sp>
      <p:pic>
        <p:nvPicPr>
          <p:cNvPr id="5" name="Grafik 4" descr="Ein Bild, das Text, Screenshot, Diagramm, Schrift enthält.&#10;&#10;KI-generierte Inhalte können fehlerhaft sein.">
            <a:extLst>
              <a:ext uri="{FF2B5EF4-FFF2-40B4-BE49-F238E27FC236}">
                <a16:creationId xmlns:a16="http://schemas.microsoft.com/office/drawing/2014/main" id="{3DEC7166-8E84-41CB-CE8E-32691C3774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280" y="2429613"/>
            <a:ext cx="4626864" cy="402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39895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584D464-4DB8-E951-E77F-5432C5B17E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/>
              <a:t>Evaluierung </a:t>
            </a:r>
            <a:r>
              <a:rPr lang="de-AT" dirty="0" err="1"/>
              <a:t>BiLSTM+GloVe</a:t>
            </a:r>
            <a:r>
              <a:rPr lang="de-AT" dirty="0"/>
              <a:t> </a:t>
            </a:r>
            <a:r>
              <a:rPr lang="de-AT" dirty="0" err="1"/>
              <a:t>vs</a:t>
            </a:r>
            <a:r>
              <a:rPr lang="de-AT" dirty="0"/>
              <a:t> LSTM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E17568F-5002-1D52-5F7C-6EF3077BE1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LSTM ohne </a:t>
            </a:r>
            <a:r>
              <a:rPr lang="de-AT" dirty="0" err="1"/>
              <a:t>GloVe</a:t>
            </a:r>
            <a:r>
              <a:rPr lang="de-AT" dirty="0"/>
              <a:t> zeigt bessere </a:t>
            </a:r>
            <a:r>
              <a:rPr lang="de-AT" dirty="0" err="1"/>
              <a:t>ergebnisse</a:t>
            </a:r>
            <a:r>
              <a:rPr lang="de-AT" dirty="0"/>
              <a:t> als mit </a:t>
            </a:r>
            <a:r>
              <a:rPr lang="de-AT" dirty="0" err="1"/>
              <a:t>GloVe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Weniger </a:t>
            </a:r>
            <a:r>
              <a:rPr lang="de-AT" dirty="0" err="1"/>
              <a:t>Overfitting</a:t>
            </a:r>
            <a:endParaRPr lang="de-AT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Kleineres Vokabular </a:t>
            </a:r>
            <a:r>
              <a:rPr lang="de-AT" dirty="0">
                <a:sym typeface="Wingdings" panose="05000000000000000000" pitchFamily="2" charset="2"/>
              </a:rPr>
              <a:t> Fokus auf häufige Wörter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>
                <a:sym typeface="Wingdings" panose="05000000000000000000" pitchFamily="2" charset="2"/>
              </a:rPr>
              <a:t>GloVe</a:t>
            </a:r>
            <a:r>
              <a:rPr lang="de-AT" dirty="0">
                <a:sym typeface="Wingdings" panose="05000000000000000000" pitchFamily="2" charset="2"/>
              </a:rPr>
              <a:t> zu allgemein nicht gut für Filme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>
                <a:sym typeface="Wingdings" panose="05000000000000000000" pitchFamily="2" charset="2"/>
              </a:rPr>
              <a:t>LSTM hat weniger rauschen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216101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41B04EA-1A9E-4777-7B45-A2869C178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Evaluierung LSTM </a:t>
            </a:r>
            <a:r>
              <a:rPr lang="de-AT" dirty="0" err="1"/>
              <a:t>vs</a:t>
            </a:r>
            <a:r>
              <a:rPr lang="de-AT" dirty="0"/>
              <a:t> Naive Bias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54FEA89-5F08-C8A3-568D-16828D0C0B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/>
              <a:t>Naive Bayes schlägt LSTM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 err="1"/>
              <a:t>Bigrams</a:t>
            </a:r>
            <a:r>
              <a:rPr lang="de-AT" dirty="0"/>
              <a:t> besser als nur Wörter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Mehr Tokens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LSTM bräuchte mehr Zeit (lernt anfangs langsam)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de-AT" dirty="0"/>
              <a:t>LSTM leichteres </a:t>
            </a:r>
            <a:r>
              <a:rPr lang="de-AT" dirty="0" err="1"/>
              <a:t>Overfitting</a:t>
            </a:r>
            <a:endParaRPr lang="de-AT" dirty="0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D57937D-2EDD-9A40-D34D-ECA16BBCB8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4528" y="3938561"/>
            <a:ext cx="4176204" cy="876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80514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341FE22-3BA5-8DCC-D3E9-B8BCF3A9C6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Datenset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F155A7-1F2F-C9E8-96C0-299EFB739E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AT" dirty="0">
                <a:hlinkClick r:id="rId2"/>
              </a:rPr>
              <a:t>https://www.kaggle.com/datasets/lakshmi25npathi/imdb-dataset-of-50k-movie-reviews</a:t>
            </a:r>
            <a:endParaRPr lang="de-AT" dirty="0"/>
          </a:p>
        </p:txBody>
      </p:sp>
    </p:spTree>
    <p:extLst>
      <p:ext uri="{BB962C8B-B14F-4D97-AF65-F5344CB8AC3E}">
        <p14:creationId xmlns:p14="http://schemas.microsoft.com/office/powerpoint/2010/main" val="3458456411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601</Words>
  <Application>Microsoft Office PowerPoint</Application>
  <PresentationFormat>Breitbild</PresentationFormat>
  <Paragraphs>119</Paragraphs>
  <Slides>18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18</vt:i4>
      </vt:variant>
    </vt:vector>
  </HeadingPairs>
  <TitlesOfParts>
    <vt:vector size="23" baseType="lpstr">
      <vt:lpstr>Arial</vt:lpstr>
      <vt:lpstr>Avenir Next LT Pro</vt:lpstr>
      <vt:lpstr>Bahnschrift</vt:lpstr>
      <vt:lpstr>Wingdings</vt:lpstr>
      <vt:lpstr>MatrixVTI</vt:lpstr>
      <vt:lpstr>Sentiment Analyse IMDB Dataset LSTM</vt:lpstr>
      <vt:lpstr>Projektüberblick</vt:lpstr>
      <vt:lpstr>Imports</vt:lpstr>
      <vt:lpstr>Datenset PreProcesing</vt:lpstr>
      <vt:lpstr>Naive Bayes Model</vt:lpstr>
      <vt:lpstr>Training Naive Bayes</vt:lpstr>
      <vt:lpstr>Ergebnisse</vt:lpstr>
      <vt:lpstr>Vorbereitungen BiLSTM</vt:lpstr>
      <vt:lpstr>GloVe-Embedding</vt:lpstr>
      <vt:lpstr>BiLSTM-Model</vt:lpstr>
      <vt:lpstr>Training</vt:lpstr>
      <vt:lpstr>Ergebnisse Epoche 1</vt:lpstr>
      <vt:lpstr>Ergebniss Average</vt:lpstr>
      <vt:lpstr>LSTM ohne GloVe</vt:lpstr>
      <vt:lpstr>Ergebniss LSTM ohne GloVe</vt:lpstr>
      <vt:lpstr>Evaluierung BiLSTM+GloVe vs LSTM</vt:lpstr>
      <vt:lpstr>Evaluierung LSTM vs Naive Bias</vt:lpstr>
      <vt:lpstr>Datenset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 Werner</dc:creator>
  <cp:lastModifiedBy>Stefan Werner</cp:lastModifiedBy>
  <cp:revision>3</cp:revision>
  <dcterms:created xsi:type="dcterms:W3CDTF">2025-12-02T08:37:48Z</dcterms:created>
  <dcterms:modified xsi:type="dcterms:W3CDTF">2025-12-02T10:05:58Z</dcterms:modified>
</cp:coreProperties>
</file>