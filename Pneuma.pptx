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84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CA537-2821-B05F-F178-FBF6D5256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B76BD-F564-D35F-4139-684AE8B78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C00DD-5C29-C6BD-4810-DA67B854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34C1-EF37-4688-8A84-19BD6CDB45F8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1C8C6-B786-F2F7-5A83-0E1F498AC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C79CF-616B-CAE1-4624-44D63919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02B5-A185-4D8E-9047-A1E7165CEC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416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F26AD-F702-B599-A9B8-CE04D0D79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375E6-2074-F528-1E0B-74C47085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C64D5-65F5-055E-0186-DFCEE954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34C1-EF37-4688-8A84-19BD6CDB45F8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03EB0-339B-D722-B8E8-009C21156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3A181-A87C-B6D3-DD0C-03EBFBC2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02B5-A185-4D8E-9047-A1E7165CEC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089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31E86-542A-4B61-1BDA-E2B93683C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65943-2BA0-620D-E203-38E123613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94E0A-E956-7755-734C-8B82D67BC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34C1-EF37-4688-8A84-19BD6CDB45F8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B3872-EE2A-9BEC-7468-00FDC285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1DC0E-FDE0-080B-A2A1-2A54B4BDC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02B5-A185-4D8E-9047-A1E7165CEC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4857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FF5F1-1A7F-0608-C064-38A568CC5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D7301-889F-453A-7249-B2B501D24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BF75D-EE21-7521-0CED-35348FCB3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09D77-829C-7FBC-446B-F1713FD3C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34C1-EF37-4688-8A84-19BD6CDB45F8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9BA41-ABEB-FF1B-E9CD-A62E6551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72EAA-2A36-1CD2-BDB9-5869E4B9D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02B5-A185-4D8E-9047-A1E7165CEC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9040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19A7-253D-7E16-F2E2-EE0955F45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9DDF8-0A99-124D-1797-546941E63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696414-5ABB-91CD-12FB-2168E9FD7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013837-73E2-EB09-0C9A-1D11DC6AB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83DF7-E1CE-A4C1-4579-79049EEFE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59B2A-0594-8991-5C94-FCF5C61C0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34C1-EF37-4688-8A84-19BD6CDB45F8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6ACDC-116D-6A21-57B8-8C1CF0F0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682749-6EC5-AF02-B4D6-7B7A3E75C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02B5-A185-4D8E-9047-A1E7165CEC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2281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79B4C-4035-4F58-734F-5978E9F6B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3DACE-2FA7-B832-1C0A-A4C9877DB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34C1-EF37-4688-8A84-19BD6CDB45F8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C3CC1-E81B-299B-C586-6DD026CC3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9976C-42CB-80C7-18AB-6D225541E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02B5-A185-4D8E-9047-A1E7165CEC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71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B819BF-4AFF-C287-1719-55ECC3331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34C1-EF37-4688-8A84-19BD6CDB45F8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836C96-2DA1-C4FC-F984-515BC011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7C6E9-7430-D290-F64B-704B51C4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02B5-A185-4D8E-9047-A1E7165CEC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3789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75BC-86BD-B09B-AD64-545EC064A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FF715-9CDB-090D-771F-9AF87ED41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3415F-2258-11A2-7DE5-E127DA90B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735C7-B80B-9DC1-450F-206DFE4E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34C1-EF37-4688-8A84-19BD6CDB45F8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7697A-2337-4B90-0CAA-1C820C48D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03861-8B3B-A123-7693-F60191D9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02B5-A185-4D8E-9047-A1E7165CEC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061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22BF3-BE44-EB38-8EB5-A155F157D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3BC9-43B0-512E-1399-B73D074207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E4D95-95BC-16B2-5540-2E2D27739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C361E-65A3-6CED-B0C8-8BBCA262D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34C1-EF37-4688-8A84-19BD6CDB45F8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6C045-E726-E249-3E9C-1BB71B668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3E90B-D60C-A20A-A14B-35481CD6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02B5-A185-4D8E-9047-A1E7165CEC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6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0884E-203D-1E1C-BBCF-1644EDDE7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ADBC8-6AC0-D602-67D3-62182E6B1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EA1E8-7639-DA5C-9063-FDEB8B748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34C1-EF37-4688-8A84-19BD6CDB45F8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8EB4E-83C6-6608-F77C-0F48EADCD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2A292-AE40-08A9-B37B-F629C5F2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02B5-A185-4D8E-9047-A1E7165CEC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4775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234FF7-8236-B9BE-42A5-10E709FDCA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6692F-8EFC-9F2B-B2B6-F95CF90BE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146CE-22FA-6C1F-0712-636492AD2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34C1-EF37-4688-8A84-19BD6CDB45F8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045B5-0747-C089-8B73-5C557181C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DF595-7152-81B7-CDD4-F2C8EC509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02B5-A185-4D8E-9047-A1E7165CEC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5805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63273F-26F0-8A2A-6B92-65D2C94A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F1375-7700-D058-BA39-CC0F34E03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CF2A0-F515-1A3A-71B1-816DDCA15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934C1-EF37-4688-8A84-19BD6CDB45F8}" type="datetimeFigureOut">
              <a:rPr lang="de-DE" smtClean="0"/>
              <a:t>27.11.2025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B2B9E-50A4-3007-8C5B-85EEC95E0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C050D-F160-C9B8-3048-46BEDCB93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6B02B5-A185-4D8E-9047-A1E7165CEC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600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0010-BBA6-F35C-8238-DFAFAD7C83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Pneuma/</a:t>
            </a:r>
            <a:r>
              <a:rPr lang="de-DE"/>
              <a:t>OCT 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D7892-E7B1-896E-8BF2-A521C0F510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4178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01042-FFBC-6786-1601-024295BFD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CA91C-F618-E427-A43D-533747558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Pneumadataset</a:t>
            </a:r>
            <a:r>
              <a:rPr lang="de-DE" dirty="0"/>
              <a:t> bestand aus 2 verschiedenen Datasets</a:t>
            </a:r>
          </a:p>
          <a:p>
            <a:pPr lvl="1"/>
            <a:r>
              <a:rPr lang="de-DE" dirty="0"/>
              <a:t>OCT</a:t>
            </a:r>
          </a:p>
          <a:p>
            <a:pPr lvl="1"/>
            <a:r>
              <a:rPr lang="de-DE" dirty="0" err="1"/>
              <a:t>Chest-Xray</a:t>
            </a:r>
            <a:endParaRPr lang="de-DE" dirty="0"/>
          </a:p>
          <a:p>
            <a:endParaRPr lang="de-DE" dirty="0"/>
          </a:p>
          <a:p>
            <a:pPr lvl="1"/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A2DAFE-7C90-9CC6-5D65-BB30433E7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416" y="3387442"/>
            <a:ext cx="882695" cy="8255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B63762-538C-1C46-3C1D-10E7E2FBA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075" y="4593198"/>
            <a:ext cx="939848" cy="67313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B26512-C0A3-5603-DE19-A81AE9AFBF55}"/>
              </a:ext>
            </a:extLst>
          </p:cNvPr>
          <p:cNvCxnSpPr/>
          <p:nvPr/>
        </p:nvCxnSpPr>
        <p:spPr>
          <a:xfrm>
            <a:off x="3752305" y="4091566"/>
            <a:ext cx="3248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C9E39D-DBBA-CF6F-4B67-9B9D7EAB4624}"/>
              </a:ext>
            </a:extLst>
          </p:cNvPr>
          <p:cNvCxnSpPr>
            <a:cxnSpLocks/>
          </p:cNvCxnSpPr>
          <p:nvPr/>
        </p:nvCxnSpPr>
        <p:spPr>
          <a:xfrm>
            <a:off x="4077111" y="4089633"/>
            <a:ext cx="0" cy="8401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43F801-E132-36C5-0713-60034FD81C75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4077111" y="4929765"/>
            <a:ext cx="679964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950542D7-CB54-BA4A-E06C-12CA5C79D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265" y="4336009"/>
            <a:ext cx="1225613" cy="118751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D7085F-A621-0543-8CB3-286FADE30F55}"/>
              </a:ext>
            </a:extLst>
          </p:cNvPr>
          <p:cNvCxnSpPr>
            <a:endCxn id="9" idx="3"/>
          </p:cNvCxnSpPr>
          <p:nvPr/>
        </p:nvCxnSpPr>
        <p:spPr>
          <a:xfrm>
            <a:off x="5423483" y="4929765"/>
            <a:ext cx="27344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97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DCB7-68E9-5D72-66F2-F6ABB5469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E2244-D547-ADA0-B601-7E37394FB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Sehr klar erkennbarer Unterschied zwischen </a:t>
            </a:r>
            <a:r>
              <a:rPr lang="de-DE" dirty="0" err="1"/>
              <a:t>Healthy</a:t>
            </a:r>
            <a:r>
              <a:rPr lang="de-DE" dirty="0"/>
              <a:t>/</a:t>
            </a:r>
            <a:r>
              <a:rPr lang="de-DE" dirty="0" err="1"/>
              <a:t>unhealthy</a:t>
            </a:r>
            <a:endParaRPr lang="de-DE" dirty="0"/>
          </a:p>
          <a:p>
            <a:r>
              <a:rPr lang="de-DE" dirty="0"/>
              <a:t>Große Datensätze ~82k Bilder</a:t>
            </a:r>
          </a:p>
          <a:p>
            <a:r>
              <a:rPr lang="de-DE" dirty="0"/>
              <a:t>Qualitätsmängel</a:t>
            </a:r>
          </a:p>
          <a:p>
            <a:pPr lvl="1"/>
            <a:r>
              <a:rPr lang="de-DE" dirty="0"/>
              <a:t>Abfotografierte Bilder von OCTs</a:t>
            </a:r>
          </a:p>
          <a:p>
            <a:pPr lvl="1"/>
            <a:r>
              <a:rPr lang="de-DE" dirty="0"/>
              <a:t>Teilweise abgeschnitten</a:t>
            </a:r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5" name="Picture 4" descr="A close-up of a plane&#10;&#10;AI-generated content may be incorrect.">
            <a:extLst>
              <a:ext uri="{FF2B5EF4-FFF2-40B4-BE49-F238E27FC236}">
                <a16:creationId xmlns:a16="http://schemas.microsoft.com/office/drawing/2014/main" id="{FED55D76-7FF6-7425-F7D1-3AEB1E08A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660" y="4290382"/>
            <a:ext cx="3771249" cy="18266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close-up of a moon&#10;&#10;AI-generated content may be incorrect.">
            <a:extLst>
              <a:ext uri="{FF2B5EF4-FFF2-40B4-BE49-F238E27FC236}">
                <a16:creationId xmlns:a16="http://schemas.microsoft.com/office/drawing/2014/main" id="{69E780F4-37F8-7C23-74B1-51137231B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353" y="4290382"/>
            <a:ext cx="3771248" cy="18266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82979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BCC5-B24B-C594-CD12-286ECEC6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Preprocessing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BD3EC-EC87-228A-61E6-762B49A68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Entfernen der Ränder</a:t>
            </a:r>
          </a:p>
          <a:p>
            <a:pPr lvl="1"/>
            <a:r>
              <a:rPr lang="de-DE" dirty="0"/>
              <a:t>Alle Pixel die das Value 0 Haben auf schwarz gesetzt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CAAF3C-654F-57C6-6EA9-19662C084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963" y="3728706"/>
            <a:ext cx="2082907" cy="2000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4E7F2F-2E68-4C05-1986-ECA5F6F93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588" y="3626874"/>
            <a:ext cx="2222474" cy="210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463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F2F94-DBA2-C805-0A73-3A8EFE490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Preprocessing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A20F8-1A23-430E-C748-964CE1AED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Tief und Hochpass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EDA354-8BD9-BBD6-8189-61D5A9B69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775" y="3522516"/>
            <a:ext cx="2082907" cy="20003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ECDC2E-85CC-38DE-9184-5B842F6AF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665" y="3522517"/>
            <a:ext cx="2062702" cy="200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10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8C2BC-C3F8-C48E-0BA4-874A9F6A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Preprocessing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B7DCD-B266-9CAA-7032-661957AD6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Invertierte Farben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9729ED-66ED-2383-3F3E-32135AA31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62" y="3506446"/>
            <a:ext cx="8557859" cy="200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37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9BEF9-39B8-813B-1A40-922045B19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Preprocessing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0C188-30B9-AE1B-5B72-1D3407FF0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Noise </a:t>
            </a:r>
            <a:r>
              <a:rPr lang="de-DE" dirty="0" err="1"/>
              <a:t>Removal</a:t>
            </a: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D2BF2-6895-0224-F159-317281B20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94" y="3874584"/>
            <a:ext cx="3067208" cy="13589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B8F4A-7FD1-BD52-B348-5E82B2870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38" y="3924455"/>
            <a:ext cx="3035456" cy="118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715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560BA-C26A-1852-4399-D544D540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 die aufgekommen sind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001E-FCD3-DCF6-4158-1E8388922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Speicherplatz</a:t>
            </a:r>
          </a:p>
          <a:p>
            <a:pPr lvl="1"/>
            <a:r>
              <a:rPr lang="de-DE" dirty="0"/>
              <a:t>Gelöst via </a:t>
            </a:r>
            <a:r>
              <a:rPr lang="de-DE" dirty="0" err="1"/>
              <a:t>Garbagecollector</a:t>
            </a:r>
            <a:endParaRPr lang="de-DE" dirty="0"/>
          </a:p>
          <a:p>
            <a:pPr lvl="1"/>
            <a:r>
              <a:rPr lang="de-DE" dirty="0"/>
              <a:t>Im Modell mit </a:t>
            </a:r>
            <a:r>
              <a:rPr lang="de-DE" dirty="0" err="1"/>
              <a:t>Batching</a:t>
            </a:r>
            <a:r>
              <a:rPr lang="de-DE" dirty="0"/>
              <a:t> gelöst</a:t>
            </a:r>
          </a:p>
          <a:p>
            <a:pPr lvl="1"/>
            <a:r>
              <a:rPr lang="de-DE" dirty="0"/>
              <a:t>Andere Lösungen: Zwischenspeichern</a:t>
            </a:r>
          </a:p>
          <a:p>
            <a:pPr lvl="1"/>
            <a:endParaRPr lang="de-DE" dirty="0"/>
          </a:p>
        </p:txBody>
      </p:sp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03D2AF7-5A92-9AC9-54DD-9635F18B7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573" y="4001294"/>
            <a:ext cx="9677897" cy="137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866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AC0EC-164A-E07A-6930-2B843E6CE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Modellarchitektur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E4F4A-6B7A-C4E3-4B7B-EB66AE924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Modelltyp:</a:t>
            </a:r>
            <a:r>
              <a:rPr lang="de-DE" dirty="0"/>
              <a:t> </a:t>
            </a:r>
            <a:r>
              <a:rPr lang="de-DE" dirty="0" err="1"/>
              <a:t>Multilayer</a:t>
            </a:r>
            <a:r>
              <a:rPr lang="de-DE" dirty="0"/>
              <a:t> </a:t>
            </a:r>
            <a:r>
              <a:rPr lang="de-DE" dirty="0" err="1"/>
              <a:t>Perceptron</a:t>
            </a:r>
            <a:endParaRPr lang="de-DE" dirty="0"/>
          </a:p>
          <a:p>
            <a:r>
              <a:rPr lang="de-DE" b="1" dirty="0"/>
              <a:t>Eingabedaten:</a:t>
            </a:r>
            <a:r>
              <a:rPr lang="de-DE" dirty="0"/>
              <a:t> Graustufen-OCT-Bilder</a:t>
            </a:r>
          </a:p>
          <a:p>
            <a:r>
              <a:rPr lang="de-DE" b="1" dirty="0"/>
              <a:t>Inputgröße:</a:t>
            </a:r>
            <a:r>
              <a:rPr lang="de-DE" dirty="0"/>
              <a:t> 64 × 64 = 4096 Features</a:t>
            </a:r>
          </a:p>
          <a:p>
            <a:r>
              <a:rPr lang="de-DE" b="1" dirty="0"/>
              <a:t>Hidden Layers:</a:t>
            </a:r>
            <a:endParaRPr lang="de-DE" dirty="0"/>
          </a:p>
          <a:p>
            <a:pPr lvl="1"/>
            <a:r>
              <a:rPr lang="de-DE" dirty="0" err="1"/>
              <a:t>Dense</a:t>
            </a:r>
            <a:r>
              <a:rPr lang="de-DE" dirty="0"/>
              <a:t> </a:t>
            </a:r>
            <a:r>
              <a:rPr lang="de-DE" b="1" dirty="0"/>
              <a:t>256 Neuronen</a:t>
            </a:r>
            <a:endParaRPr lang="de-DE" dirty="0"/>
          </a:p>
          <a:p>
            <a:pPr lvl="1"/>
            <a:r>
              <a:rPr lang="de-DE" dirty="0" err="1"/>
              <a:t>Dense</a:t>
            </a:r>
            <a:r>
              <a:rPr lang="de-DE" dirty="0"/>
              <a:t> </a:t>
            </a:r>
            <a:r>
              <a:rPr lang="de-DE" b="1" dirty="0"/>
              <a:t>128 Neuronen</a:t>
            </a:r>
            <a:endParaRPr lang="de-DE" dirty="0"/>
          </a:p>
          <a:p>
            <a:r>
              <a:rPr lang="de-DE" b="1" dirty="0"/>
              <a:t>Output:</a:t>
            </a:r>
            <a:r>
              <a:rPr lang="de-DE" dirty="0"/>
              <a:t> 1 Neuron (Binary Classification: </a:t>
            </a:r>
            <a:r>
              <a:rPr lang="de-DE" dirty="0" err="1"/>
              <a:t>Healthy</a:t>
            </a:r>
            <a:r>
              <a:rPr lang="de-DE" dirty="0"/>
              <a:t> vs. </a:t>
            </a:r>
            <a:r>
              <a:rPr lang="de-DE" dirty="0" err="1"/>
              <a:t>Unhealthy</a:t>
            </a:r>
            <a:r>
              <a:rPr lang="de-DE" dirty="0"/>
              <a:t>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887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13B9-765F-E4E1-BD59-DF6CA5A10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1C85A-0BEC-0AB3-6BCB-B75FED49A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Optimierer: </a:t>
            </a:r>
            <a:r>
              <a:rPr lang="de-DE" b="1" dirty="0"/>
              <a:t>Adam</a:t>
            </a:r>
            <a:endParaRPr lang="de-DE" dirty="0"/>
          </a:p>
          <a:p>
            <a:r>
              <a:rPr lang="de-DE" dirty="0"/>
              <a:t>Learning Rate: </a:t>
            </a:r>
            <a:r>
              <a:rPr lang="de-DE" b="1" dirty="0"/>
              <a:t>1e-3</a:t>
            </a:r>
            <a:endParaRPr lang="de-DE" dirty="0"/>
          </a:p>
          <a:p>
            <a:r>
              <a:rPr lang="de-DE" dirty="0"/>
              <a:t>Epochen: </a:t>
            </a:r>
            <a:r>
              <a:rPr lang="de-DE" b="1" dirty="0"/>
              <a:t>30</a:t>
            </a:r>
            <a:endParaRPr lang="de-DE" dirty="0"/>
          </a:p>
          <a:p>
            <a:r>
              <a:rPr lang="de-DE" dirty="0"/>
              <a:t>Batch Size: </a:t>
            </a:r>
            <a:r>
              <a:rPr lang="de-DE" b="1" dirty="0"/>
              <a:t>512</a:t>
            </a:r>
            <a:endParaRPr lang="de-DE" dirty="0"/>
          </a:p>
          <a:p>
            <a:r>
              <a:rPr lang="de-DE" dirty="0"/>
              <a:t>Mini-Batch Training via .</a:t>
            </a:r>
            <a:r>
              <a:rPr lang="de-DE" dirty="0" err="1"/>
              <a:t>partial_fit</a:t>
            </a:r>
            <a:r>
              <a:rPr lang="de-DE" dirty="0"/>
              <a:t>()</a:t>
            </a:r>
          </a:p>
          <a:p>
            <a:r>
              <a:rPr lang="de-DE" dirty="0"/>
              <a:t>Mean-</a:t>
            </a:r>
            <a:r>
              <a:rPr lang="de-DE" dirty="0" err="1"/>
              <a:t>Subtraction</a:t>
            </a:r>
            <a:r>
              <a:rPr lang="de-DE" dirty="0"/>
              <a:t> </a:t>
            </a:r>
            <a:r>
              <a:rPr lang="de-DE" dirty="0" err="1"/>
              <a:t>Preprocessing</a:t>
            </a:r>
            <a:r>
              <a:rPr lang="de-DE" dirty="0"/>
              <a:t> pro Bild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1118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nt">
            <a:extLst>
              <a:ext uri="{FF2B5EF4-FFF2-40B4-BE49-F238E27FC236}">
                <a16:creationId xmlns:a16="http://schemas.microsoft.com/office/drawing/2014/main" id="{BC84AE2F-44F4-4DB9-AA52-F1DF1D835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D38F80-A0D0-4062-8B61-16440AC9D8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0" dist="254000" dir="54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0B6B893-A22E-3404-0752-819EE7049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B2CDD-EF26-BF6C-9F1E-8886D64AD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12347"/>
            <a:ext cx="10591989" cy="1089805"/>
          </a:xfrm>
        </p:spPr>
        <p:txBody>
          <a:bodyPr>
            <a:normAutofit/>
          </a:bodyPr>
          <a:lstStyle/>
          <a:p>
            <a:r>
              <a:rPr lang="de-DE" sz="4000"/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49B128-1009-FF72-3564-C6F572186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60" y="2293452"/>
            <a:ext cx="4673640" cy="163577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318C58-F8F6-F8DA-9CDD-FB4CD2BEA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18" y="4321972"/>
            <a:ext cx="2092879" cy="1858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868EEB-693D-7A5E-9387-5F9BEC22E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603" y="4376724"/>
            <a:ext cx="2192677" cy="1748659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CF2E8D36-1C07-5919-D45D-20341307CF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80200" y="3782516"/>
            <a:ext cx="250042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0.920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Macro-Avg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F1: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0.920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ROC-AUC: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0.9796</a:t>
            </a:r>
          </a:p>
        </p:txBody>
      </p:sp>
    </p:spTree>
    <p:extLst>
      <p:ext uri="{BB962C8B-B14F-4D97-AF65-F5344CB8AC3E}">
        <p14:creationId xmlns:p14="http://schemas.microsoft.com/office/powerpoint/2010/main" val="836462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Widescreen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Pneuma/OCT </vt:lpstr>
      <vt:lpstr>Dataset</vt:lpstr>
      <vt:lpstr>Dataquality</vt:lpstr>
      <vt:lpstr>Preprocessing</vt:lpstr>
      <vt:lpstr>Preprocessing</vt:lpstr>
      <vt:lpstr>Preprocessing</vt:lpstr>
      <vt:lpstr>Preprocessing</vt:lpstr>
      <vt:lpstr>Probleme die aufgekommen sind</vt:lpstr>
      <vt:lpstr>Modellarchitektur</vt:lpstr>
      <vt:lpstr>Training Setup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Holzinger</dc:creator>
  <cp:lastModifiedBy>Martin Holzinger</cp:lastModifiedBy>
  <cp:revision>1</cp:revision>
  <dcterms:created xsi:type="dcterms:W3CDTF">2025-11-27T17:19:38Z</dcterms:created>
  <dcterms:modified xsi:type="dcterms:W3CDTF">2025-11-27T18:09:07Z</dcterms:modified>
</cp:coreProperties>
</file>